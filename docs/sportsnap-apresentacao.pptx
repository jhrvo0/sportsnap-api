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Sport</a:t>
            </a:r>
            <a:r>
              <a:rPr sz="6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Calibri"/>
              </a:defRPr>
            </a:pPr>
            <a:r>
              <a:t>Performance esportiva real + Fotografia profissional</a:t>
            </a:r>
            <a:br/>
            <a:r>
              <a:t>em um unico ecossistema.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340864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ENGENHARIA DE 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9544" y="4114800"/>
            <a:ext cx="2011679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DOMAIN-DRIVEN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58383" y="4114800"/>
            <a:ext cx="612648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BDD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08191" y="4114800"/>
            <a:ext cx="1847088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CUCUMBER + JUNIT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Antonio Paes  |  Galileu Moares  |  Marco Maciel  |  jhrvo0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CESAR School  —  Eng. de Requisitos + CCPD  — 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PRESSIONE  →  PARA COMECAR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01 — CAPA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DOMINIO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LINGUAGEM UBIQUA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02 — DOMINIO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Atletas treinam no escuro e</a:t>
            </a:r>
            <a:br/>
            <a:r>
              <a:t>desconectados de suas conquistas.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O ecossistema SportSnap une performance esportiva real com fotografia</a:t>
            </a:r>
            <a:br/>
            <a:r>
              <a:t>profissional. Atletas acumulam XP oculto (Shadow Stats) durante treinos</a:t>
            </a:r>
            <a:br/>
            <a:r>
              <a:t>que so se torna oficial quando adquirem uma licenca de imagem — o Reveal.</a:t>
            </a:r>
            <a:br/>
            <a:r>
              <a:t>Isso cria um ciclo de engajamento entre treinar, comprar e evoluir.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7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JORNADAS</a:t>
            </a:r>
            <a:br/>
            <a:r>
              <a:t>MAPEADAS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7F"/>
                </a:solidFill>
                <a:latin typeface="Calibri"/>
              </a:defRPr>
            </a:pPr>
            <a:r>
              <a:t>8+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46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FUNCIONA-</a:t>
            </a:r>
            <a:br/>
            <a:r>
              <a:t>LIDADES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7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846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SUB-</a:t>
            </a:r>
            <a:br/>
            <a:r>
              <a:t>DOMINIOS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7F"/>
                </a:solidFill>
                <a:latin typeface="Calibri"/>
              </a:defRPr>
            </a:pPr>
            <a: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846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POSSIBI-</a:t>
            </a:r>
            <a:br/>
            <a:r>
              <a:t>LIDADES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7F"/>
                </a:solidFill>
                <a:latin typeface="Calibri"/>
              </a:defRPr>
            </a:pPr>
            <a:r>
              <a:t>SUBDOMINIOS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920240"/>
            <a:ext cx="3383280" cy="1005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1920240"/>
            <a:ext cx="54864" cy="100584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9933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Gamificacao</a:t>
            </a:r>
            <a:r>
              <a:rPr sz="1000" b="0">
                <a:solidFill>
                  <a:srgbClr val="888888"/>
                </a:solidFill>
                <a:latin typeface="Calibri"/>
              </a:rPr>
              <a:t>  Core Domain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Shadow Stats, Reveal, Ranking, Overall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017520"/>
            <a:ext cx="3383280" cy="1005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3017520"/>
            <a:ext cx="54864" cy="100584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30906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Marketplace</a:t>
            </a:r>
            <a:r>
              <a:rPr sz="1000" b="0">
                <a:solidFill>
                  <a:srgbClr val="888888"/>
                </a:solidFill>
                <a:latin typeface="Calibri"/>
              </a:rPr>
              <a:t>  Supporting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429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Fotos, Licencas, Split Financeiro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4114800"/>
            <a:ext cx="3383280" cy="1005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03920" y="4114800"/>
            <a:ext cx="54864" cy="100584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4187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Sessao</a:t>
            </a:r>
            <a:r>
              <a:rPr sz="1000" b="0">
                <a:solidFill>
                  <a:srgbClr val="888888"/>
                </a:solidFill>
                <a:latin typeface="Calibri"/>
              </a:rPr>
              <a:t>  Generic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Spots, Sessoes, Check-ins, 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JORNADA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03 — JORNADA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0FF7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Treinar e marcar presenca.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"Quero fazer check-in no local e registrar meu treino para acumular progresso."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94183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JORNADA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5029200"/>
            <a:ext cx="1847088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SESSAO &amp; ATIVIDADE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Atleta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01 — DECOMPOSICAO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VALIDARCHECKINIMPL  ·  REGISTRODEATIVIDADE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04 — JORNADA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 passos com regras rigidas de dominio.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Cada passo valida campos obrigatorios e aplica invariantes do contexto de Sessao.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5029200" cy="2148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3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Check-in Georreferenciado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44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atletaId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443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obrigatorio — UUID do atleta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729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sessionId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1729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obrigatorio — sessao ativa no Spot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015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latitude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4015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validacao de range (-90 a 90)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301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longitude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630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validacao de range (-180 a 180)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587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timestampCheckIn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8587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automatico — Instant.now()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286000"/>
            <a:ext cx="5029200" cy="18928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28600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3957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334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Registro de Atividade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9443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distancia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9443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double — km percorridos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1729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duracao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1729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Duration — tempo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4015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intensidade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4015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enum — LEVE / MODERADA / INTENSA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6301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tipoEsporte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6301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enum — CORRIDA / MUSCULACAO /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01 —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F01 + F02  ·  NAO-TRIVIAIS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05 — JORNADA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Funcionalidades da Jornada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02920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CHECK-IN GEORREFERENCIADO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Validacao de localizacao via GPS + janela temporal.</a:t>
            </a:r>
            <a:br/>
            <a:r>
              <a:t>Garante que o atleta esta fisicamente no Spot</a:t>
            </a:r>
            <a:br/>
            <a:r>
              <a:t>dentro do horario da sessao ativa.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02920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CALCULO DE SHADOW STATS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Acumulo oculto de XP baseado no registro de atividade.</a:t>
            </a:r>
            <a:br/>
            <a:r>
              <a:t>O XP fica em StatusPotencial ate o atleta</a:t>
            </a:r>
            <a:br/>
            <a:r>
              <a:t>disparar o Reveal com uma licenca de imagem.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solidFill>
            <a:srgbClr val="262644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[  PROTOTIPO F01 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5029200" cy="2286000"/>
          </a:xfrm>
          <a:prstGeom prst="rect">
            <a:avLst/>
          </a:prstGeom>
          <a:solidFill>
            <a:srgbClr val="262644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[  PROTOTIPO F02 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JORNADA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06 — JORNADA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0FF7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Descobrindo suas fotos: match automatico.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"Quero encontrar fotos minhas automaticamente, cruzando meu check-in com o EXIF das fotos."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94183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JORNADA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5029200"/>
            <a:ext cx="1435607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MATCH &amp; BUSCA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Atleta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02 — DECOMPOSICAO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MOTORMATCHIMPL  ·  BUSCAFILTRADAIMPL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07 — JORNADA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 passos: cruzamento automatico + busca refinada.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029200" cy="18928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Motor de Match Automatico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checkInTimestamp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700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cruzamento com EXIF datetime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spotId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986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localizacao do Spot vs foto 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tolerancia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272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janela temporal configuravel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55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grau de confianca do 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5029200" cy="1892808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01168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59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Busca Filtrada Inteligente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tipoEsporte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700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filtro por modalidade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fotografoId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8986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filtro por fotografo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dataRange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1272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intervalo de datas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355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ordenacao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355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relevancia / data / preco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02 —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F03 + F04  ·  NAO-TRIVIAIS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08 — JORNADA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Funcionalidades da Jornada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502920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MOTOR DE MATCH AUTOMATICO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Cruza timestamp do check-in com EXIF da foto.</a:t>
            </a:r>
            <a:br/>
            <a:r>
              <a:t>Calcula score de confianca baseado em proximidade</a:t>
            </a:r>
            <a:br/>
            <a:r>
              <a:t>temporal e geografica.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02920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BUSCA FILTRADA INTELIGENTE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Busca multi-criterio por esporte, fotografo,</a:t>
            </a:r>
            <a:br/>
            <a:r>
              <a:t>data e relevancia. Suporta paginacao e</a:t>
            </a:r>
            <a:br/>
            <a:r>
              <a:t>ordenacao dinamica.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5029200" cy="2286000"/>
          </a:xfrm>
          <a:prstGeom prst="rect">
            <a:avLst/>
          </a:prstGeom>
          <a:solidFill>
            <a:srgbClr val="262644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[  PROTOTIPO F03 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5029200" cy="2286000"/>
          </a:xfrm>
          <a:prstGeom prst="rect">
            <a:avLst/>
          </a:prstGeom>
          <a:solidFill>
            <a:srgbClr val="262644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[  PROTOTIPO F04 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JORNADA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09 — JORNADA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0FF7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Comprando fotos e revelando evolucao.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"Quero comprar minhas fotos e sincronizar minha carta para subir no ranking."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94183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JORNADA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5029200"/>
            <a:ext cx="2423160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MARKETPLACE &amp; GAMIFICACAO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Atleta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03 — DECOMPOSICAO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CARRINHOIMPL  ·  SINCRONIZACAOIMPL  ·  OVERALLIMPL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10 — JORNADA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 passos: comprar, sincronizar, calcular.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3474720" cy="1636776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347472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59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Carrinho com Preco Dinamico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itens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70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lista de FotoId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desconto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986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pacote automatico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precoFinal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1272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calculado em runtime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011680"/>
            <a:ext cx="3474720" cy="1636776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2011680"/>
            <a:ext cx="347472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3591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Sincronizacao da Carta (Reveal)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atletaId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6700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obrigatorio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licencaId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8986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validacao pos-compra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xpTransferido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1272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StatusPotencial -&gt; Carta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011680"/>
            <a:ext cx="3749039" cy="1636776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2011680"/>
            <a:ext cx="3749039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35915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Calculo de Overall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atributos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670048"/>
            <a:ext cx="1554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media ponderada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pesos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2898648"/>
            <a:ext cx="1554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por tipo de esporte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overall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3127248"/>
            <a:ext cx="15544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0.0 a 99.0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03 — FUNCIONALIDADES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F05 + F06 + F07  ·  NAO-TRIVIAIS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11 — JORNADA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Funcionalidades da Jornada 03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47472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347472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CARRINHO C/ PRECO DINAMICO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Desconto automatico por volume.</a:t>
            </a:r>
            <a:br/>
            <a:r>
              <a:t>Regras de pacote aplicadas em</a:t>
            </a:r>
            <a:br/>
            <a:r>
              <a:t>tempo de checkout.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828800"/>
            <a:ext cx="347472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828800"/>
            <a:ext cx="347472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965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SINCRONIZACAO DA CARTA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Reveal: transfere XP oculto para</a:t>
            </a:r>
            <a:br/>
            <a:r>
              <a:t>a CartaOficial. Requer licenca</a:t>
            </a:r>
            <a:br/>
            <a:r>
              <a:t>valida pos-compra.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828800"/>
            <a:ext cx="3749039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3749039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6596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331720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CALCULO DE OVERALL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51760"/>
            <a:ext cx="347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Media ponderada dos atributos</a:t>
            </a:r>
            <a:br/>
            <a:r>
              <a:t>esportivos. Pesos variam por</a:t>
            </a:r>
            <a:br/>
            <a:r>
              <a:t>tipo de esporte.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11430000" cy="2286000"/>
          </a:xfrm>
          <a:prstGeom prst="rect">
            <a:avLst/>
          </a:prstGeom>
          <a:solidFill>
            <a:srgbClr val="262644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[  PROTOTIPOS F05 / F06 / F07 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JORNADA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12 — JORNADA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0FF7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Monetizando: o lado do fotografo.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"Quero fazer upload das minhas fotos em lote e ter elas indexadas automaticamente."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94183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JORNADA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5029200"/>
            <a:ext cx="2093976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OPERACAO DO FOTOGRAFO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Fotografo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04 — DECOMPOSICAO &amp; FUNCIONALIDADE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UPLOADLOTEIMPL  ·  EXIFEXTRACTIONSERVICE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13 — JORNADA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 passo com processamento paralelo.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029200" cy="2148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Upload e Indexacao em Lote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fotografoId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700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obrigatorio — UUID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arquivos[]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986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multipart — batch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exifExtraction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272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paralelo — CompletableFuture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spotDetection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55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GPS do EXIF -&gt; Spot mais proximo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indexacao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844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elastica — tags automaticas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011680"/>
            <a:ext cx="502920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UPLOAD E INDEXACAO EM LOTE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Extracao paralela de metadados EXIF.</a:t>
            </a:r>
            <a:br/>
            <a:r>
              <a:t>Associacao automatica de fotos a Spots</a:t>
            </a:r>
            <a:br/>
            <a:r>
              <a:t>via coordenadas GPS das fotos.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JORNADA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14 — JORNADA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1">
                <a:solidFill>
                  <a:srgbClr val="00FF7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Competindo: ranking e engajamento.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"Quero ver minha posicao no ranking local e competir com outros atletas do meu Spot."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94183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JORNADA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10512" y="5029200"/>
            <a:ext cx="1847088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000" b="1">
                <a:solidFill>
                  <a:srgbClr val="00FF7F"/>
                </a:solidFill>
                <a:latin typeface="Calibri"/>
              </a:defRPr>
            </a:pPr>
            <a:r>
              <a:t>ENGAJAMENTO SOCIAL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88888"/>
                </a:solidFill>
                <a:latin typeface="Calibri"/>
              </a:defRPr>
            </a:pPr>
            <a:r>
              <a:t>PERSONA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Atleta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JORNADA 05 — DECOMPOSICAO &amp; FUNCIONALIDADE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RANKINGPROXY  ·  RANKINGITERATOR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15 — JORNADA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 passo: ranking dinamico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029200" cy="21488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alibri"/>
              </a:defRPr>
            </a:pPr>
            <a:r>
              <a:t>PASSO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Ranking Dinamico 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spotId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700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escopo local por Spot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tipoEsporte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8986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filtro por modalidade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272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sincronizados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1272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apenas cartas sincronizadas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55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ordenacao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55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overall DESC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7F"/>
                </a:solidFill>
                <a:latin typeface="Calibri"/>
              </a:defRPr>
            </a:pPr>
            <a:r>
              <a:t>cache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844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Proxy pattern — TTL configuravel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011680"/>
            <a:ext cx="5029200" cy="146304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011680"/>
            <a:ext cx="5029200" cy="54864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FF7F"/>
                </a:solidFill>
                <a:latin typeface="Calibri"/>
              </a:defRPr>
            </a:pPr>
            <a:r>
              <a:t>F09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RANKING DINAMICO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Apenas cartas sincronizadas participam.</a:t>
            </a:r>
            <a:br/>
            <a:r>
              <a:t>Usa Iterator para percorrer o ranking</a:t>
            </a:r>
            <a:br/>
            <a:r>
              <a:t>e Proxy para cache com TTL.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ARQUITETURA LIMPA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CLEAN ARCHITECTURE  ·  DDD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16 — 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Separacao em camadas: dominio no centro.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10698480" cy="1280160"/>
          </a:xfrm>
          <a:prstGeom prst="rect">
            <a:avLst/>
          </a:prstGeom>
          <a:solidFill>
            <a:srgbClr val="1E1E38"/>
          </a:solidFill>
          <a:ln w="254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7F"/>
                </a:solidFill>
                <a:latin typeface="Calibri"/>
              </a:defRPr>
            </a:pPr>
            <a:r>
              <a:t>DOMAIN (centro)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5740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entities/  —  Atleta, CartaOficial, StatusPotencial, Foto, Spot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usecases/  —  SincronizarCartaAtleta, CalcularOverall, ValidarCheckIn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repositories/  —  interfaces: AtletaRepository, FotoRepository 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solidFill>
            <a:srgbClr val="1E1E38"/>
          </a:solidFill>
          <a:ln w="25400">
            <a:solidFill>
              <a:srgbClr val="00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64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7472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implementations/  —  SincronizarCartaAtletaImpl, CalcularOverallImpl 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strategies/  —  EstrategiaCalculoXpCorrida, EstrategiaCalculoXpMusculacao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templates/  —  TemplateSincronizacao (Template Method pattern)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solidFill>
            <a:srgbClr val="1E1E38"/>
          </a:solidFill>
          <a:ln w="254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88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9204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web/controllers/  —  REST endpoints (Spring Boot)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persistence/  —  JpaAtletaRepository, JpaCartaOficialRepository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068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config/  —  SecurityConfig, CorsConfig, SwaggerConfig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7F"/>
                </a:solidFill>
                <a:latin typeface="Calibri"/>
              </a:defRPr>
            </a:pPr>
            <a:r>
              <a:t>Regra de Dependencia:  Infrastructure  →  Application  →  Domain  (nunca o inverso)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DDD — NIVEIS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DOMAIN-DRIVEN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17 — DDD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 niveis de DDD aplicados ao SportSnap.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7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55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PRELIMINAR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299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Descricao do dominio, linguagem ubiqua definida.</a:t>
            </a:r>
            <a:br/>
            <a:r>
              <a:t>Termos: Atleta, Spot, Shadow Stats, Reveal, CartaOficial, Overall, Ranking.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10698480" cy="10515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62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7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98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ESTRATEGICO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1729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3 Bounded Contexts mapeados:</a:t>
            </a:r>
            <a:br/>
            <a:r>
              <a:t>  Core — Gamificacao  |  Supporting — Marketplace  |  Generic — Sessao</a:t>
            </a:r>
            <a:br/>
            <a:r>
              <a:t>Context Map com relacoes Upstream/Downstream.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10698480" cy="10515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7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TATICO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3159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Entidades: Atleta, CartaOficial, StatusPotencial, Foto, Spot, Sessao</a:t>
            </a:r>
            <a:br/>
            <a:r>
              <a:t>Value Objects: AtributoEsportivo, Coordenada, ExifData</a:t>
            </a:r>
            <a:br/>
            <a:r>
              <a:t>Aggregates: Atleta (raiz), Sessao (raiz)  |  Repositories: interfaces no domain/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74920"/>
            <a:ext cx="10698480" cy="1051560"/>
          </a:xfrm>
          <a:prstGeom prst="rect">
            <a:avLst/>
          </a:prstGeom>
          <a:solidFill>
            <a:srgbClr val="1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48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FF7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84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OPERACIONAL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589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Modelo CML (Context Mapper Language): docs/sportsnap.cml</a:t>
            </a:r>
            <a:br/>
            <a:r>
              <a:t>Microservicos: gamification-service, session-service, marketplace-service</a:t>
            </a:r>
            <a:br/>
            <a:r>
              <a:t>Docker Compose para orquestracao local.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TESTES BDD — INTRO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CUCUMBER + JUNIT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18 — BDD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Sincronizacao da Carta:</a:t>
            </a:r>
            <a:br/>
            <a:r>
              <a:t>especificacao &amp; automacao.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Testes BDD escritos em portugues usando Cucumber com JUnit 5.</a:t>
            </a:r>
            <a:br/>
            <a:r>
              <a:t>Padrao Arrange / Act / Assert via anotacoes @Dado @Quando @Entao.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682495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100" b="1">
                <a:solidFill>
                  <a:srgbClr val="00FF7F"/>
                </a:solidFill>
                <a:latin typeface="Calibri"/>
              </a:defRPr>
            </a:pPr>
            <a:r>
              <a:t>BDD EM PORTUGUES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1175" y="3840480"/>
            <a:ext cx="1024128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100" b="1">
                <a:solidFill>
                  <a:srgbClr val="00FF7F"/>
                </a:solidFill>
                <a:latin typeface="Calibri"/>
              </a:defRPr>
            </a:pPr>
            <a:r>
              <a:t>CUCUMBER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2463" y="3840480"/>
            <a:ext cx="94183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100" b="1">
                <a:solidFill>
                  <a:srgbClr val="00FF7F"/>
                </a:solidFill>
                <a:latin typeface="Calibri"/>
              </a:defRPr>
            </a:pPr>
            <a:r>
              <a:t>JUNIT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91455" y="3840480"/>
            <a:ext cx="2176272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100" b="1">
                <a:solidFill>
                  <a:srgbClr val="00FF7F"/>
                </a:solidFill>
                <a:latin typeface="Calibri"/>
              </a:defRPr>
            </a:pPr>
            <a:r>
              <a:t>ARRANGE / ACT / ASSERT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04887" y="3840480"/>
            <a:ext cx="2011679" cy="320040"/>
          </a:xfrm>
          <a:prstGeom prst="roundRect">
            <a:avLst/>
          </a:prstGeom>
          <a:noFill/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>
              <a:defRPr sz="1100" b="1">
                <a:solidFill>
                  <a:srgbClr val="00FF7F"/>
                </a:solidFill>
                <a:latin typeface="Calibri"/>
              </a:defRPr>
            </a:pPr>
            <a:r>
              <a:t>@Dado @Quando @Entao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7F"/>
                </a:solidFill>
                <a:latin typeface="Calibri"/>
              </a:defRPr>
            </a:pPr>
            <a:r>
              <a:t>ARQUIVOS DE ESPECIFICACAO: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sincronizacao.feature  —  Sincronizacao da Carta do Atleta (2 cenarios)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checkin.feature  —  Check-in Georreferenciado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venda-foto.feature  —  Venda de Foto no Marketplace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BDD — ESPECIFICACAO GHERKIN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sincronizacao.feature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19 — BDD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 cenarios cobrem o caminho feliz e as regras de negocio.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121223"/>
          </a:solidFill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  <a:r>
              <a:t># language: 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22960" y="218541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7F"/>
                </a:solidFill>
                <a:latin typeface="Consolas"/>
              </a:defRPr>
            </a:pPr>
            <a:r>
              <a:t>Funcionalidade: Sincronizacao da Carta do Atleta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3230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267919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Cenario: Atleta sincroniza carta com licenca valida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Dado que o Atleta "Joao" possui um CheckIn registrado hoje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 possui uma LicencaDeImagem adquirida apos o ultimo Reveal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1985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Quando o Atleta dispara a Sincronizacao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Entao os StatusPotencial sao transferidos para a CartaOficial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1363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 o Overall e recalculado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 a posicao no Ranking e atualizada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nsola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465429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  Cenario: Atleta tenta sincronizar sem licenca valida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0118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Dado que o Atleta "Maria" possui um CheckIn registrado hoje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48072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 nao possui uma LicencaDeImagem valida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Quando o Atleta tenta disparar a Sincronizacao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4184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Entao a sincronizacao e rejeitada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88736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DC"/>
                </a:solidFill>
                <a:latin typeface="Consolas"/>
              </a:defRPr>
            </a:pPr>
            <a:r>
              <a:t>    E a CartaOficial permanece inalterada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SPORT</a:t>
            </a:r>
            <a:r>
              <a:rPr sz="2000" b="1">
                <a:solidFill>
                  <a:srgbClr val="00FF7F"/>
                </a:solidFill>
                <a:latin typeface="Calibri"/>
              </a:rPr>
              <a:t>SNAP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37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BDD — AUTOMACAO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SincronizacaoSteps.java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20 — BDD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Steps automatizados com Spring + Cucumber.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7840" cy="4572000"/>
          </a:xfrm>
          <a:prstGeom prst="rect">
            <a:avLst/>
          </a:prstGeom>
          <a:solidFill>
            <a:srgbClr val="121223"/>
          </a:solidFill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7F"/>
                </a:solidFill>
                <a:latin typeface="Calibri"/>
              </a:defRPr>
            </a:pPr>
            <a:r>
              <a:t>ARRANGE  (@Dado)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7F"/>
                </a:solidFill>
                <a:latin typeface="Consolas"/>
              </a:defRPr>
            </a:pPr>
            <a:r>
              <a:t>@Dado("que o Atleta {string} possui um CheckIn")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8541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public void atletaPossuiCheckInHoje(String nome)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0487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atleta = new Atleta(nome, ...);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243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atleta = atletaRepository.save(atleta);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84378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cartaOficial = new CartaOficial(atleta);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6324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cartaOficial.setOverall(50.0);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8269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cartaOficial = cartaOficialRepository.save(...);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0215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statusPotencial = new StatusPotencial(atleta);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2160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statusPotencial.setXpAcumulado(100.0);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4106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statusPotencial.setStreakDeConsistencia(3);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overallAntes = cartaOficial.getOverall();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7997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5577840" cy="4572000"/>
          </a:xfrm>
          <a:prstGeom prst="rect">
            <a:avLst/>
          </a:prstGeom>
          <a:solidFill>
            <a:srgbClr val="121223"/>
          </a:solidFill>
          <a:ln w="12700">
            <a:solidFill>
              <a:srgbClr val="00F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645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7F"/>
                </a:solidFill>
                <a:latin typeface="Calibri"/>
              </a:defRPr>
            </a:pPr>
            <a:r>
              <a:t>ACT (@Quando)  +  ASSERT (@Entao)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7F"/>
                </a:solidFill>
                <a:latin typeface="Consolas"/>
              </a:defRPr>
            </a:pPr>
            <a:r>
              <a:t>@Quando("o Atleta dispara a Sincronizacao")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671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public void atletaDisparaSincronizacao()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6829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sincronizarCartaAtleta.executar(atleta.getId());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6946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8803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7F"/>
                </a:solidFill>
                <a:latin typeface="Consolas"/>
              </a:defRPr>
            </a:pPr>
            <a:r>
              <a:t>@Entao("os StatusPotencial sao transferidos")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8152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public void statusTransferidos()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8269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StatusPotencial s = statusPotencialRepo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48386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  .findByAtletaId(atleta.getId()).orElseThrow();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8503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assertEquals(0.0, s.getXpAcumulado(),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862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  "XP zerado apos sincronizacao");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8736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9826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FF7F"/>
                </a:solidFill>
                <a:latin typeface="Consolas"/>
              </a:defRPr>
            </a:pPr>
            <a:r>
              <a:t>@E("o Overall e recalculado")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99432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public void overallRecalculado()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0060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CartaOficial c = cartaOficialRepo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0176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  .findByAtletaId(atleta.getId()).orElseThrow();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0293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  assertTrue(c.getOverall() &gt; overallAntes);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40410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4B4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Calibri"/>
              </a:rPr>
              <a:t>Esporte e evolucao. </a:t>
            </a:r>
            <a:r>
              <a:rPr sz="3600" b="1">
                <a:solidFill>
                  <a:srgbClr val="00FF7F"/>
                </a:solidFill>
                <a:latin typeface="Calibri"/>
              </a:rPr>
              <a:t>SportSnap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F7F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Perguntas?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Antonio Paes  |  Galileu Moares  |  Marco Maciel  |  jhrvo0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CESAR School  —  Eng. de Requisitos + CCPD  —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4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Calibri"/>
              </a:defRPr>
            </a:pPr>
            <a:r>
              <a:t>SPORTSNAP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21 — FIM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